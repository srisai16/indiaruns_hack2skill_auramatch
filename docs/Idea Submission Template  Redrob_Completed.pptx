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 ExtraBold" panose="020B0604020202020204" charset="0"/>
      <p:bold r:id="rId14"/>
    </p:embeddedFont>
    <p:embeddedFont>
      <p:font typeface="Manrope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4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github.com/Srisai16/IndiaRuns_Hack2Skill_AuraMatch" TargetMode="External"/><Relationship Id="rId4" Type="http://schemas.openxmlformats.org/officeDocument/2006/relationships/hyperlink" Target="https://auramatch.streamlit.ap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2997981"/>
            <a:ext cx="8520600" cy="36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80000"/>
              </a:lnSpc>
              <a:spcAft>
                <a:spcPts val="800"/>
              </a:spcAft>
              <a:defRPr sz="2400" b="1">
                <a:solidFill>
                  <a:srgbClr val="202729"/>
                </a:solidFill>
                <a:latin typeface="Manrope SemiBold"/>
              </a:defRPr>
            </a:pPr>
            <a:r>
              <a:rPr lang="en-IN" sz="2200" dirty="0"/>
              <a:t>Team Name : </a:t>
            </a:r>
            <a:r>
              <a:rPr lang="en-IN" sz="2200" dirty="0">
                <a:solidFill>
                  <a:schemeClr val="accent5"/>
                </a:solidFill>
              </a:rPr>
              <a:t>Vector Vanguard</a:t>
            </a:r>
            <a:endParaRPr lang="en-IN" sz="2200" dirty="0">
              <a:solidFill>
                <a:schemeClr val="accent5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sz="2400" b="1">
                <a:solidFill>
                  <a:srgbClr val="202729"/>
                </a:solidFill>
                <a:latin typeface="Manrope SemiBold"/>
              </a:defRPr>
            </a:pPr>
            <a:endParaRPr sz="2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3584374"/>
            <a:ext cx="8520600" cy="1403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spcAft>
                <a:spcPts val="800"/>
              </a:spcAft>
              <a:defRPr sz="2200" b="0">
                <a:solidFill>
                  <a:srgbClr val="202729"/>
                </a:solidFill>
                <a:latin typeface="Manrope SemiBold"/>
              </a:defRPr>
            </a:pPr>
            <a:r>
              <a:rPr sz="2200" b="1" dirty="0"/>
              <a:t>Problem Statement :</a:t>
            </a:r>
            <a:r>
              <a:rPr lang="en-IN" sz="2200" b="1" dirty="0"/>
              <a:t> </a:t>
            </a:r>
            <a:r>
              <a:rPr lang="en-IN" sz="2200" b="1" dirty="0">
                <a:solidFill>
                  <a:schemeClr val="accent5"/>
                </a:solidFill>
              </a:rPr>
              <a:t>Recruiters go through hundreds of profiles and still often miss the right person. Not because the talent isn't there — but because keyword filters can't see what actually matters.</a:t>
            </a:r>
            <a:endParaRPr sz="2200" b="1" dirty="0">
              <a:solidFill>
                <a:schemeClr val="accent5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3362524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sz="2200" b="0">
                <a:solidFill>
                  <a:srgbClr val="202729"/>
                </a:solidFill>
                <a:latin typeface="Manrope SemiBold"/>
              </a:defRPr>
            </a:pPr>
            <a:r>
              <a:rPr sz="2200" b="1" dirty="0"/>
              <a:t>Team Leader Name : </a:t>
            </a:r>
            <a:r>
              <a:rPr sz="2200" b="1" dirty="0">
                <a:solidFill>
                  <a:schemeClr val="accent5"/>
                </a:solidFill>
              </a:rPr>
              <a:t>S</a:t>
            </a:r>
            <a:r>
              <a:rPr lang="en-IN" sz="2200" b="1" dirty="0" err="1">
                <a:solidFill>
                  <a:schemeClr val="accent5"/>
                </a:solidFill>
              </a:rPr>
              <a:t>ri</a:t>
            </a:r>
            <a:r>
              <a:rPr lang="en-IN" sz="2200" b="1" dirty="0">
                <a:solidFill>
                  <a:schemeClr val="accent5"/>
                </a:solidFill>
              </a:rPr>
              <a:t> Sai </a:t>
            </a:r>
            <a:r>
              <a:rPr lang="en-IN" sz="2200" b="1" dirty="0" err="1">
                <a:solidFill>
                  <a:schemeClr val="accent5"/>
                </a:solidFill>
              </a:rPr>
              <a:t>Shivakoti</a:t>
            </a:r>
            <a:endParaRPr sz="2200" b="1" dirty="0">
              <a:solidFill>
                <a:schemeClr val="accent5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11698" y="1045550"/>
            <a:ext cx="8520600" cy="362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Proposed Solution:</a:t>
            </a:r>
            <a:r>
              <a:rPr lang="en-IN" sz="1600" b="1" dirty="0"/>
              <a:t> </a:t>
            </a:r>
            <a:r>
              <a:rPr lang="en-IN" sz="1600" dirty="0"/>
              <a:t>I</a:t>
            </a:r>
            <a:r>
              <a:rPr sz="1600" dirty="0"/>
              <a:t> built a production-grade, state-managed recruiter portal</a:t>
            </a:r>
            <a:r>
              <a:rPr lang="en-IN" sz="1600" dirty="0"/>
              <a:t> </a:t>
            </a:r>
            <a:r>
              <a:rPr sz="1600" dirty="0" err="1">
                <a:solidFill>
                  <a:schemeClr val="accent5"/>
                </a:solidFill>
              </a:rPr>
              <a:t>AuraMatch</a:t>
            </a:r>
            <a:r>
              <a:rPr sz="1600" dirty="0"/>
              <a:t> that shifts candidate selection from manual keyword matching to deep semantic alignment.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Core Value Proposition: </a:t>
            </a:r>
            <a:r>
              <a:rPr sz="1600" dirty="0"/>
              <a:t>Traditional ATS systems miss candidates who built products but didn't list exact buzzwords. </a:t>
            </a:r>
            <a:r>
              <a:rPr sz="1600" dirty="0" err="1">
                <a:solidFill>
                  <a:schemeClr val="accent5"/>
                </a:solidFill>
              </a:rPr>
              <a:t>AuraMatch</a:t>
            </a:r>
            <a:r>
              <a:rPr sz="1600" dirty="0"/>
              <a:t> treats recruitment as a multi-dimensional graph and alignment problem.</a:t>
            </a:r>
            <a:endParaRPr lang="en-IN" sz="1600" dirty="0"/>
          </a:p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Comprehensive Profiling: </a:t>
            </a:r>
            <a:r>
              <a:rPr sz="1600" dirty="0"/>
              <a:t>Evaluates career velocity (promotion speed, startup vs corporate experience), behavioral signals, knowledge graph expansions, and profile integrity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696" y="1045550"/>
            <a:ext cx="5284173" cy="3951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Dynamic JD Sourcing Calibration: </a:t>
            </a:r>
            <a:r>
              <a:rPr sz="1600" dirty="0"/>
              <a:t>Pasting a Job Description automatically parses it using a comprehensive professional keyword dictionary to extract target experience bands (e.g. 5 to 8 years) and required competencies.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Fusing Multi-Layer Signals: </a:t>
            </a:r>
            <a:r>
              <a:rPr sz="1600" dirty="0"/>
              <a:t>Evaluates technical alignment (weighted by proficiency, duration, endorsements) combined with career velocity, recruiter responsiveness, availability (notice period), and developer activity.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Concept Graph Expansions: </a:t>
            </a:r>
            <a:r>
              <a:rPr sz="1600" dirty="0"/>
              <a:t>Identifies conceptual equivalents (e.g. mapping Django/Flask to </a:t>
            </a:r>
            <a:r>
              <a:rPr sz="1600" dirty="0" err="1"/>
              <a:t>FastAPI</a:t>
            </a:r>
            <a:r>
              <a:rPr sz="1600" dirty="0"/>
              <a:t>, or traditional search to modern vector search) even if the candidate did not list the exact term.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2F60A-21B7-0D45-2344-D97D59C8B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707" y="624625"/>
            <a:ext cx="3581905" cy="4267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9" y="1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511200" y="518924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40866" y="751874"/>
            <a:ext cx="5058790" cy="415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Anomaly Safeguard Filtering: </a:t>
            </a:r>
            <a:r>
              <a:rPr sz="1600" dirty="0"/>
              <a:t>Pre-filters profiles by running deterministic checks on salary consistency, signup dates, and skill durations, removing honeypots and non-technical titles.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Feature Fusion Scorer: </a:t>
            </a:r>
            <a:r>
              <a:rPr sz="1600" dirty="0"/>
              <a:t>Fuses four normalized feature dimensions: Technical Alignment, Career Velocity, Ownership Verbs, and Platform Activity using </a:t>
            </a:r>
            <a:r>
              <a:rPr sz="1600" dirty="0" err="1"/>
              <a:t>MinMax</a:t>
            </a:r>
            <a:r>
              <a:rPr sz="1600" dirty="0"/>
              <a:t> Scaling.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Dynamic Weight Customization: </a:t>
            </a:r>
            <a:r>
              <a:rPr sz="1600" dirty="0"/>
              <a:t>Recruiters can adjust evaluation weight sliders to recalibrate matching priorities.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Shortlist Output Generator: </a:t>
            </a:r>
            <a:r>
              <a:rPr sz="1600" dirty="0"/>
              <a:t>Shortlists candidates (up to 1000 capacity) in format-compliant XLSX/CSV files with deterministic score monotonicity and tie-breaking.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4798E-F734-CC61-FCD2-32EC4017E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781" y="805544"/>
            <a:ext cx="3564536" cy="3900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59684" y="57965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802643"/>
            <a:ext cx="5084548" cy="353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Context-Specific Interview Coaching: </a:t>
            </a:r>
            <a:r>
              <a:rPr sz="1600" dirty="0"/>
              <a:t>The ATS Resume Analyzer analyzes capability alignment and automatically generates context-specific interview questions focused on the candidate's exact competency gaps.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Factual Reasoning Generation:</a:t>
            </a:r>
            <a:r>
              <a:rPr sz="1600" dirty="0"/>
              <a:t> Integrates a pre-evaluated Stage-4 LLM Recruiter Critique layer for top candidates, producing clear, non-templated justifications citing concrete candidate metrics.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Rigorous Anomaly Safeguard: </a:t>
            </a:r>
            <a:r>
              <a:rPr sz="1600" dirty="0"/>
              <a:t>The Honeypot Pre-Filter detects exaggerated profiles (e.g., expert proficiency with 0 months duration) or impossible job durations, blocking 24,947 anomalies out of 100,000 candidates.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1F219-EFE8-7915-C128-A90B43D45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948" y="812600"/>
            <a:ext cx="3220589" cy="4072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88757" y="1132806"/>
            <a:ext cx="6689620" cy="38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JD Input: </a:t>
            </a:r>
            <a:r>
              <a:rPr sz="1600" dirty="0"/>
              <a:t>Recruiter enters target JD into the sourcing dashboard.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Calibration:</a:t>
            </a:r>
            <a:r>
              <a:rPr lang="en-IN" sz="1600" b="1" dirty="0"/>
              <a:t> </a:t>
            </a:r>
            <a:r>
              <a:rPr sz="1600" dirty="0"/>
              <a:t>Sourcing parser extracts experience requirements and tech stacks, calibrating ranking weights.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Candidate Ingestion: </a:t>
            </a:r>
            <a:r>
              <a:rPr sz="1600" dirty="0"/>
              <a:t>Loads candidates (local database or custom CSV/Excel/JSON upload).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Anomaly Pre-Filtering: </a:t>
            </a:r>
            <a:r>
              <a:rPr sz="1600" dirty="0"/>
              <a:t>Deterministic filters remove honeypot profiles and non-tech titles.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Hybrid Matrix Scorer: </a:t>
            </a:r>
            <a:r>
              <a:rPr sz="1600" dirty="0"/>
              <a:t>Computes multi-dimensional scores and applies normalized weights.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lang="en-US" sz="1600" b="1" dirty="0"/>
              <a:t>Shortlist Delivery:</a:t>
            </a:r>
            <a:r>
              <a:rPr lang="en-US" sz="1600" dirty="0"/>
              <a:t> Renders ranked shortlist, Talent Analytics, and Side-by-Side Comparison.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1A5AF4-8EC7-8F98-FFA6-E42142600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120" y="714198"/>
            <a:ext cx="1747643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1" y="812599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80501" y="1122823"/>
            <a:ext cx="5825692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State-Managed Recruiter UI: </a:t>
            </a:r>
            <a:r>
              <a:rPr sz="1600" dirty="0"/>
              <a:t>Stateful, multi-page user interface built using </a:t>
            </a:r>
            <a:r>
              <a:rPr sz="1600" dirty="0" err="1"/>
              <a:t>Streamlit</a:t>
            </a:r>
            <a:r>
              <a:rPr sz="1600" dirty="0"/>
              <a:t> and styled with a custom Slate/Navy/Neon Blue design system.</a:t>
            </a:r>
            <a:endParaRPr lang="en-IN" sz="1600" dirty="0"/>
          </a:p>
          <a:p>
            <a:pPr marL="285750" indent="-285750" algn="just"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Dynamic Sourcing Calibrator: </a:t>
            </a:r>
            <a:r>
              <a:rPr sz="1600" dirty="0" err="1"/>
              <a:t>RegEx</a:t>
            </a:r>
            <a:r>
              <a:rPr sz="1600" dirty="0"/>
              <a:t> and keyword extraction engine to calibrate target experience and skills.</a:t>
            </a:r>
            <a:endParaRPr lang="en-IN" sz="1600" dirty="0"/>
          </a:p>
          <a:p>
            <a:pPr marL="285750" indent="-285750" algn="just"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Honeypot Pre-Filter:</a:t>
            </a:r>
            <a:r>
              <a:rPr sz="1600" dirty="0"/>
              <a:t> Deterministic checking rules blocking inconsistent profiles.</a:t>
            </a:r>
            <a:endParaRPr lang="en-IN" sz="1600" dirty="0"/>
          </a:p>
          <a:p>
            <a:pPr marL="285750" indent="-285750" algn="just"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Feature Fusion Scorer: </a:t>
            </a:r>
            <a:r>
              <a:rPr sz="1600" dirty="0"/>
              <a:t>Normalized matrix engine computing candidate fit scores.</a:t>
            </a:r>
            <a:endParaRPr lang="en-IN" sz="1600" dirty="0"/>
          </a:p>
          <a:p>
            <a:pPr marL="285750" indent="-285750" algn="just"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Shortlist Export Engine: </a:t>
            </a:r>
            <a:r>
              <a:rPr sz="1600" dirty="0"/>
              <a:t>Generates compliance-validated XLSX/CSV candidate shortlists.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FB36D1-C8EC-9E50-D05B-302E6E4A8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11" y="522774"/>
            <a:ext cx="2837789" cy="4256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045550"/>
            <a:ext cx="4909956" cy="3976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Sub-8 Second Sourcing: </a:t>
            </a:r>
            <a:r>
              <a:rPr lang="en-IN" sz="1600" b="1" dirty="0"/>
              <a:t>  </a:t>
            </a:r>
            <a:r>
              <a:rPr sz="1600" dirty="0" err="1"/>
              <a:t>AuraMatch</a:t>
            </a:r>
            <a:r>
              <a:rPr sz="1600" dirty="0"/>
              <a:t> processes, scores, and ranks 10,000 candidate profiles in under 8 seconds locally (CPU-only).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Cloud-Ready Efficiency:</a:t>
            </a:r>
            <a:r>
              <a:rPr sz="1600" dirty="0"/>
              <a:t> </a:t>
            </a:r>
            <a:r>
              <a:rPr lang="en-IN" sz="1600" dirty="0"/>
              <a:t> </a:t>
            </a:r>
            <a:r>
              <a:rPr sz="1600" dirty="0"/>
              <a:t>Uses </a:t>
            </a:r>
            <a:r>
              <a:rPr sz="1600" dirty="0" err="1"/>
              <a:t>Gzip</a:t>
            </a:r>
            <a:r>
              <a:rPr sz="1600" dirty="0"/>
              <a:t>-compressed datasets (5.2 MB) on </a:t>
            </a:r>
            <a:r>
              <a:rPr sz="1600" dirty="0" err="1"/>
              <a:t>Streamlit</a:t>
            </a:r>
            <a:r>
              <a:rPr sz="1600" dirty="0"/>
              <a:t> Community Cloud for instant page loads.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100% Anomaly Clean:</a:t>
            </a:r>
            <a:r>
              <a:rPr sz="1600" dirty="0"/>
              <a:t> Completely filters out honeypot profiles from the shortlist </a:t>
            </a:r>
            <a:r>
              <a:rPr lang="en-IN" sz="1600" dirty="0"/>
              <a:t>        </a:t>
            </a:r>
            <a:r>
              <a:rPr sz="1600" dirty="0"/>
              <a:t>(zero anomalies in the top candidates).</a:t>
            </a:r>
            <a:endParaRPr lang="en-IN" sz="1600" dirty="0"/>
          </a:p>
          <a:p>
            <a:pPr marL="427672" lvl="0" indent="-285750" algn="just" rtl="0"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Compliance Verified: </a:t>
            </a:r>
            <a:r>
              <a:rPr sz="1600" dirty="0"/>
              <a:t>Output files fully pass the challenge</a:t>
            </a:r>
            <a:r>
              <a:rPr lang="en-IN" sz="1600" dirty="0"/>
              <a:t> </a:t>
            </a:r>
            <a:r>
              <a:rPr sz="1600" dirty="0"/>
              <a:t>validation checker (validate_submission.py), ensuring correct score monotonicity and tie-breaking.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F231A-D8CE-B242-BC2C-8394C0EEF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874" y="1045550"/>
            <a:ext cx="3525826" cy="34027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62720" y="1045550"/>
            <a:ext cx="5394135" cy="397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b="1" dirty="0"/>
              <a:t>Application Framework: </a:t>
            </a:r>
            <a:r>
              <a:rPr dirty="0" err="1"/>
              <a:t>Streamlit</a:t>
            </a:r>
            <a:r>
              <a:rPr dirty="0"/>
              <a:t> (modular state-managed navigation for secure portal views).</a:t>
            </a:r>
            <a:endParaRPr lang="en-IN" sz="1365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b="1" dirty="0"/>
              <a:t>Data &amp; Analytics: </a:t>
            </a:r>
            <a:r>
              <a:rPr dirty="0"/>
              <a:t>Pandas, NumPy, </a:t>
            </a:r>
            <a:r>
              <a:rPr dirty="0" err="1"/>
              <a:t>OpenPyXL</a:t>
            </a:r>
            <a:r>
              <a:rPr dirty="0"/>
              <a:t>, </a:t>
            </a:r>
            <a:r>
              <a:rPr dirty="0" err="1"/>
              <a:t>Gzip</a:t>
            </a:r>
            <a:r>
              <a:rPr dirty="0"/>
              <a:t> (efficient compression and Excel parsing).</a:t>
            </a:r>
            <a:endParaRPr lang="en-IN" dirty="0"/>
          </a:p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b="1" dirty="0"/>
              <a:t>Interactive Visualizations: </a:t>
            </a:r>
            <a:r>
              <a:rPr dirty="0"/>
              <a:t>Altair (seniority spread, notice period, and skill distribution charts).</a:t>
            </a:r>
            <a:endParaRPr lang="en-IN" dirty="0"/>
          </a:p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b="1" dirty="0"/>
              <a:t>Automation &amp; Testing: </a:t>
            </a:r>
            <a:r>
              <a:rPr dirty="0"/>
              <a:t>Playwright (headless automated testing and screen captures).</a:t>
            </a:r>
            <a:endParaRPr lang="en-IN" dirty="0"/>
          </a:p>
          <a:p>
            <a:pPr marL="427672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b="1" dirty="0"/>
              <a:t>Competency Mapping: </a:t>
            </a:r>
            <a:r>
              <a:rPr dirty="0"/>
              <a:t>Regular expressions, custom tokenizers, and concept graph matching.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F93EAC-56CA-7272-2EC2-2B6C51AC4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111" y="529680"/>
            <a:ext cx="2995948" cy="44939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045550"/>
            <a:ext cx="7968600" cy="361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Live Web App URL: </a:t>
            </a:r>
            <a:r>
              <a:rPr sz="1600" dirty="0">
                <a:hlinkClick r:id="rId4"/>
              </a:rPr>
              <a:t>https://auramatch.streamlit.app/</a:t>
            </a:r>
            <a:endParaRPr lang="en-IN" sz="16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GitHub Repository: </a:t>
            </a:r>
            <a:r>
              <a:rPr sz="1600" dirty="0">
                <a:hlinkClick r:id="rId5"/>
              </a:rPr>
              <a:t>https://github.com/Srisai16/IndiaRuns_Hack2Skill_AuraMatch</a:t>
            </a:r>
            <a:endParaRPr lang="en-IN" sz="1600" dirty="0"/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Submission Output: </a:t>
            </a:r>
            <a:r>
              <a:rPr sz="1600" dirty="0"/>
              <a:t>VectorVanguard.csv (100% compliant, fully validated candidate shortlist).</a:t>
            </a:r>
            <a:endParaRPr lang="en-IN" sz="1600" dirty="0"/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sz="1600" b="1" dirty="0"/>
              <a:t>Final Presentation Deck: </a:t>
            </a:r>
            <a:r>
              <a:rPr sz="1600" dirty="0"/>
              <a:t>Idea Submission Template Redrob.pptx (outlining implementation, architecture, and results).</a:t>
            </a:r>
            <a:endParaRPr lang="en-IN" sz="1600" dirty="0"/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 sz="1500" b="0">
                <a:solidFill>
                  <a:srgbClr val="202729"/>
                </a:solidFill>
                <a:latin typeface="Manrope SemiBold"/>
              </a:defRPr>
            </a:pPr>
            <a:r>
              <a:rPr lang="en-IN" sz="1600" dirty="0"/>
              <a:t>Candidate Sourcing Shortlist:  AuraMatch_Top_100_Shortlist.xlsx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500" b="0">
                <a:solidFill>
                  <a:srgbClr val="202729"/>
                </a:solidFill>
                <a:latin typeface="Manrope SemiBold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On-screen Show (16:9)</PresentationFormat>
  <Paragraphs>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Manrope SemiBold</vt:lpstr>
      <vt:lpstr>Manrope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shivakotisravani15@gmail.com</cp:lastModifiedBy>
  <cp:revision>1</cp:revision>
  <dcterms:modified xsi:type="dcterms:W3CDTF">2026-06-27T12:26:14Z</dcterms:modified>
</cp:coreProperties>
</file>